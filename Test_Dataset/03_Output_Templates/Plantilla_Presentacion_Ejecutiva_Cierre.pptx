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A9EDB"/>
                </a:solidFill>
                <a:latin typeface="Arial"/>
              </a:defRPr>
            </a:pPr>
            <a:r>
              <a:t>IQSEC CYBERSECURITY — PROPUESTA EJECUTIVA INTEGRAL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Arial"/>
              </a:defRPr>
            </a:pPr>
            <a:r>
              <a:t>Solución de Ciberseguridad Perimetral, Monitoreo SIEM y Servicios SOC 24/7</a:t>
            </a:r>
          </a:p>
          <a:p>
            <a:pPr>
              <a:spcBef>
                <a:spcPts val="1600"/>
              </a:spcBef>
              <a:defRPr sz="1400">
                <a:solidFill>
                  <a:srgbClr val="D0D0D0"/>
                </a:solidFill>
                <a:latin typeface="Arial"/>
              </a:defRPr>
            </a:pPr>
            <a:r>
              <a:t>Licitación Pública Nacional LPN-CFE-0042-2026 | Comisión Federal de Electricidad</a:t>
            </a:r>
            <a:br/>
            <a:r>
              <a:t>Presentado por: IQSEC México S.A. de C.V. —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  1. Resumen Ejecutivo: Entendimiento Estratégico y Propuesta de Valor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291840" cy="4114800"/>
          </a:xfrm>
          <a:prstGeom prst="roundRect">
            <a:avLst/>
          </a:prstGeom>
          <a:solidFill>
            <a:srgbClr val="F7F9FC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  <a:latin typeface="Arial"/>
              </a:defRPr>
            </a:pPr>
            <a:r>
              <a:t>100% CUMPLIMIENTO</a:t>
            </a:r>
          </a:p>
          <a:p>
            <a:pPr algn="ctr">
              <a:spcBef>
                <a:spcPts val="1800"/>
              </a:spcBef>
              <a:defRPr sz="1300">
                <a:solidFill>
                  <a:srgbClr val="444444"/>
                </a:solidFill>
                <a:latin typeface="Arial"/>
              </a:defRPr>
            </a:pPr>
            <a:r>
              <a:t>20/20 Requerimientos técnicos y legales solventados sin excepciones.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645920"/>
            <a:ext cx="3291840" cy="4114800"/>
          </a:xfrm>
          <a:prstGeom prst="roundRect">
            <a:avLst/>
          </a:prstGeom>
          <a:solidFill>
            <a:srgbClr val="F7F9FC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  <a:latin typeface="Arial"/>
              </a:defRPr>
            </a:pPr>
            <a:r>
              <a:t>139 Gbps CAPACIDAD</a:t>
            </a:r>
          </a:p>
          <a:p>
            <a:pPr algn="ctr">
              <a:spcBef>
                <a:spcPts val="1800"/>
              </a:spcBef>
              <a:defRPr sz="1300">
                <a:solidFill>
                  <a:srgbClr val="444444"/>
                </a:solidFill>
                <a:latin typeface="Arial"/>
              </a:defRPr>
            </a:pPr>
            <a:r>
              <a:t>Throughput líder de mercado superando el requerimiento mínimo de 120 Gbps.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114800"/>
          </a:xfrm>
          <a:prstGeom prst="roundRect">
            <a:avLst/>
          </a:prstGeom>
          <a:solidFill>
            <a:srgbClr val="F7F9FC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F3864"/>
                </a:solidFill>
                <a:latin typeface="Arial"/>
              </a:defRPr>
            </a:pPr>
            <a:r>
              <a:t>15 MINUTOS SLA</a:t>
            </a:r>
          </a:p>
          <a:p>
            <a:pPr algn="ctr">
              <a:spcBef>
                <a:spcPts val="1800"/>
              </a:spcBef>
              <a:defRPr sz="1300">
                <a:solidFill>
                  <a:srgbClr val="444444"/>
                </a:solidFill>
                <a:latin typeface="Arial"/>
              </a:defRPr>
            </a:pPr>
            <a:r>
              <a:t>Respuesta garantizada del equipo de ingenieros SOC ante incidentes críticos.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  2. Arquitectura de Solución Integral — Fabricantes Líderes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10362895" cy="1005840"/>
          </a:xfrm>
          <a:prstGeom prst="rect">
            <a:avLst/>
          </a:prstGeom>
          <a:solidFill>
            <a:srgbClr val="F7F9FC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3864"/>
                </a:solidFill>
                <a:latin typeface="Arial"/>
              </a:defRPr>
            </a:pPr>
            <a:r>
              <a:t>CIBERSEGURIDAD PERIMETRAL</a:t>
            </a:r>
          </a:p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Fortinet FortiGate 600F en clúster HA Activo/Pasivo con doble fuente y 17.5 Gbps SSL Inspection.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651760"/>
            <a:ext cx="10362895" cy="1005840"/>
          </a:xfrm>
          <a:prstGeom prst="rect">
            <a:avLst/>
          </a:prstGeom>
          <a:solidFill>
            <a:srgbClr val="F7F9FC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3864"/>
                </a:solidFill>
                <a:latin typeface="Arial"/>
              </a:defRPr>
            </a:pPr>
            <a:r>
              <a:t>CORRELACIÓN SIEM CENTRALIZADA</a:t>
            </a:r>
          </a:p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Splunk Enterprise Security dimensionado para 25,000 EPS continuos con mapeo nativo MITRE ATT&amp;CK.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840480"/>
            <a:ext cx="10362895" cy="1005840"/>
          </a:xfrm>
          <a:prstGeom prst="rect">
            <a:avLst/>
          </a:prstGeom>
          <a:solidFill>
            <a:srgbClr val="F7F9FC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3864"/>
                </a:solidFill>
                <a:latin typeface="Arial"/>
              </a:defRPr>
            </a:pPr>
            <a:r>
              <a:t>DETECCIÓN Y RESPUESTA (XDR)</a:t>
            </a:r>
          </a:p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CrowdStrike Falcon Complete con remediación quirúrgica automatizada sobre 2,500 endpoints corporativos.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029200"/>
            <a:ext cx="10362895" cy="1005840"/>
          </a:xfrm>
          <a:prstGeom prst="rect">
            <a:avLst/>
          </a:prstGeom>
          <a:solidFill>
            <a:srgbClr val="F7F9FC"/>
          </a:solidFill>
          <a:ln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F3864"/>
                </a:solidFill>
                <a:latin typeface="Arial"/>
              </a:defRPr>
            </a:pPr>
            <a:r>
              <a:t>SERVICIOS ADMINISTRADOS SOC 24/7</a:t>
            </a:r>
          </a:p>
          <a:p>
            <a:pPr>
              <a:defRPr sz="1100">
                <a:solidFill>
                  <a:srgbClr val="333333"/>
                </a:solidFill>
                <a:latin typeface="Arial"/>
              </a:defRPr>
            </a:pPr>
            <a:r>
              <a:t>Centro de Operaciones de Ciberdefensa certificado ISO 27001 con analistas certificados Nivel 1, 2 y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  3. Resumen de Cumplimiento Técnico (Sábana de Requerimientos)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723"/>
                <a:gridCol w="2590723"/>
                <a:gridCol w="2590723"/>
                <a:gridCol w="2590726"/>
              </a:tblGrid>
              <a:tr h="8229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Partida Licitatoria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Requerimientos Totales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Cumplimiento Técnico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Estatus de Validación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Partida 1: Seguridad Perimetral NGFW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15 Requerimientos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B7E3B"/>
                          </a:solidFill>
                          <a:latin typeface="Arial"/>
                        </a:defRPr>
                      </a:pPr>
                      <a:r>
                        <a:t>100% CUMPLE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Validado y Aprobado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Partida 2: Monitoreo SIEM y Telemetría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2 Requerimientos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B7E3B"/>
                          </a:solidFill>
                          <a:latin typeface="Arial"/>
                        </a:defRPr>
                      </a:pPr>
                      <a:r>
                        <a:t>100% CUMPLE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Validado y Aprobado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Partida 3: Protección XDR y SOC 24/7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3 Requerimientos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B7E3B"/>
                          </a:solidFill>
                          <a:latin typeface="Arial"/>
                        </a:defRPr>
                      </a:pPr>
                      <a:r>
                        <a:t>100% CUMPLE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latin typeface="Arial"/>
                        </a:defRPr>
                      </a:pPr>
                      <a:r>
                        <a:t>Validado y Aprobado</a:t>
                      </a:r>
                    </a:p>
                  </a:txBody>
                  <a:tcPr>
                    <a:solidFill>
                      <a:srgbClr val="F7F9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864"/>
                          </a:solidFill>
                          <a:latin typeface="Arial"/>
                        </a:defRPr>
                      </a:pPr>
                      <a:r>
                        <a:t>TOTAL INTEGRAL DE LA PROPUESTA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864"/>
                          </a:solidFill>
                          <a:latin typeface="Arial"/>
                        </a:defRPr>
                      </a:pPr>
                      <a:r>
                        <a:t>20 Requerimientos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B7E3B"/>
                          </a:solidFill>
                          <a:latin typeface="Arial"/>
                        </a:defRPr>
                      </a:pPr>
                      <a:r>
                        <a:t>100% CUMPLIMIENTO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864"/>
                          </a:solidFill>
                          <a:latin typeface="Arial"/>
                        </a:defRPr>
                      </a:pPr>
                      <a:r>
                        <a:t>OFERTA TÉCNICA SOLVENTE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rial"/>
              </a:defRPr>
            </a:pPr>
            <a:r>
              <a:t>IQSEC MÉXICO — CIBERDEFENSA CONFIABLE Y CERTIFICADA</a:t>
            </a:r>
          </a:p>
          <a:p>
            <a:pPr algn="ctr">
              <a:spcBef>
                <a:spcPts val="1400"/>
              </a:spcBef>
              <a:defRPr sz="1400">
                <a:solidFill>
                  <a:srgbClr val="6A9EDB"/>
                </a:solidFill>
                <a:latin typeface="Arial"/>
              </a:defRPr>
            </a:pPr>
            <a:r>
              <a:t>Estamos listos para desplegar la infraestructura con el más alto rigor de ingeniería mexicana.</a:t>
            </a:r>
            <a:br/>
            <a:r>
              <a:t>Contacto: licitaciones@iqsec.com.mx | www.iqsec.com.mx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